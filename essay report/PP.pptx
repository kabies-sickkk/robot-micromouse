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2"/>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30" name="Google Shape;30;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3"/>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4"/>
          <p:cNvSpPr txBox="1"/>
          <p:nvPr>
            <p:ph type="title"/>
          </p:nvPr>
        </p:nvSpPr>
        <p:spPr>
          <a:xfrm>
            <a:off x="838200" y="365125"/>
            <a:ext cx="3121241" cy="38947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4"/>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4"/>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0" name="Google Shape;40;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1" name="Google Shape;41;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5"/>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6"/>
          <p:cNvSpPr txBox="1"/>
          <p:nvPr>
            <p:ph type="title"/>
          </p:nvPr>
        </p:nvSpPr>
        <p:spPr>
          <a:xfrm>
            <a:off x="838200" y="365125"/>
            <a:ext cx="3121241" cy="38947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 name="Google Shape;46;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6"/>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6"/>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7"/>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3" name="Google Shape;53;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4" name="Google Shape;54;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 name="Google Shape;55;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6" name="Google Shape;56;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7" name="Google Shape;57;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7"/>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7"/>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8"/>
          <p:cNvSpPr txBox="1"/>
          <p:nvPr>
            <p:ph type="title"/>
          </p:nvPr>
        </p:nvSpPr>
        <p:spPr>
          <a:xfrm>
            <a:off x="838200" y="365125"/>
            <a:ext cx="3121241" cy="38947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8"/>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8"/>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8" name="Google Shape;6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9" name="Google Shape;69;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9"/>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9"/>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10"/>
          <p:cNvSpPr/>
          <p:nvPr>
            <p:ph idx="2" type="pic"/>
          </p:nvPr>
        </p:nvSpPr>
        <p:spPr>
          <a:xfrm>
            <a:off x="5183188" y="987425"/>
            <a:ext cx="6172200" cy="4873625"/>
          </a:xfrm>
          <a:prstGeom prst="rect">
            <a:avLst/>
          </a:prstGeom>
          <a:noFill/>
          <a:ln>
            <a:noFill/>
          </a:ln>
        </p:spPr>
      </p:sp>
      <p:sp>
        <p:nvSpPr>
          <p:cNvPr id="75" name="Google Shape;75;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6" name="Google Shape;7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0"/>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0"/>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1"/>
          <p:cNvSpPr txBox="1"/>
          <p:nvPr>
            <p:ph type="title"/>
          </p:nvPr>
        </p:nvSpPr>
        <p:spPr>
          <a:xfrm>
            <a:off x="838200" y="365125"/>
            <a:ext cx="3121241" cy="38947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1" name="Google Shape;81;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 name="Google Shape;82;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1"/>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1"/>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2"/>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7" name="Google Shape;87;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 name="Google Shape;8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2"/>
          <p:cNvSpPr txBox="1"/>
          <p:nvPr>
            <p:ph idx="11" type="ftr"/>
          </p:nvPr>
        </p:nvSpPr>
        <p:spPr>
          <a:xfrm>
            <a:off x="3643313" y="648040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12"/>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5138736" y="6490212"/>
            <a:ext cx="7053264" cy="344100"/>
          </a:xfrm>
          <a:prstGeom prst="snip2DiagRect">
            <a:avLst>
              <a:gd fmla="val 0" name="adj1"/>
              <a:gd fmla="val 16667" name="adj2"/>
            </a:avLst>
          </a:prstGeom>
          <a:solidFill>
            <a:srgbClr val="9BD3E5"/>
          </a:solidFill>
          <a:ln cap="flat" cmpd="sng" w="12700">
            <a:solidFill>
              <a:srgbClr val="9BD3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
          <p:cNvSpPr/>
          <p:nvPr/>
        </p:nvSpPr>
        <p:spPr>
          <a:xfrm>
            <a:off x="0" y="6422617"/>
            <a:ext cx="6848475" cy="344100"/>
          </a:xfrm>
          <a:prstGeom prst="snip2DiagRect">
            <a:avLst>
              <a:gd fmla="val 0" name="adj1"/>
              <a:gd fmla="val 16667" name="adj2"/>
            </a:avLst>
          </a:prstGeom>
          <a:solidFill>
            <a:srgbClr val="9BD3E5"/>
          </a:solidFill>
          <a:ln cap="flat" cmpd="sng" w="12700">
            <a:solidFill>
              <a:srgbClr val="9BD3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 name="Google Shape;12;p1"/>
          <p:cNvSpPr/>
          <p:nvPr/>
        </p:nvSpPr>
        <p:spPr>
          <a:xfrm>
            <a:off x="5700713" y="6557029"/>
            <a:ext cx="6491288" cy="300971"/>
          </a:xfrm>
          <a:prstGeom prst="snip2DiagRect">
            <a:avLst>
              <a:gd fmla="val 0" name="adj1"/>
              <a:gd fmla="val 16667" name="adj2"/>
            </a:avLst>
          </a:prstGeom>
          <a:solidFill>
            <a:srgbClr val="75A6C5"/>
          </a:solidFill>
          <a:ln cap="flat" cmpd="sng" w="12700">
            <a:solidFill>
              <a:srgbClr val="75A6C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 name="Google Shape;13;p1"/>
          <p:cNvSpPr/>
          <p:nvPr/>
        </p:nvSpPr>
        <p:spPr>
          <a:xfrm>
            <a:off x="0" y="6495770"/>
            <a:ext cx="6724650" cy="362230"/>
          </a:xfrm>
          <a:prstGeom prst="snip2DiagRect">
            <a:avLst>
              <a:gd fmla="val 0" name="adj1"/>
              <a:gd fmla="val 16667" name="adj2"/>
            </a:avLst>
          </a:prstGeom>
          <a:solidFill>
            <a:srgbClr val="75A6C5"/>
          </a:solidFill>
          <a:ln cap="flat" cmpd="sng" w="12700">
            <a:solidFill>
              <a:srgbClr val="75A6C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1"/>
          <p:cNvSpPr/>
          <p:nvPr/>
        </p:nvSpPr>
        <p:spPr>
          <a:xfrm>
            <a:off x="8524875" y="533400"/>
            <a:ext cx="3667125" cy="710546"/>
          </a:xfrm>
          <a:prstGeom prst="snip2DiagRect">
            <a:avLst>
              <a:gd fmla="val 0" name="adj1"/>
              <a:gd fmla="val 16667" name="adj2"/>
            </a:avLst>
          </a:prstGeom>
          <a:solidFill>
            <a:srgbClr val="9BD3E5"/>
          </a:solidFill>
          <a:ln cap="flat" cmpd="sng" w="9525">
            <a:solidFill>
              <a:srgbClr val="9BD3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1"/>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400" u="none" cap="none" strike="noStrike">
                <a:solidFill>
                  <a:schemeClr val="dk1"/>
                </a:solidFill>
                <a:latin typeface="Calibri"/>
                <a:ea typeface="Calibri"/>
                <a:cs typeface="Calibri"/>
                <a:sym typeface="Calibri"/>
              </a:defRPr>
            </a:lvl1pPr>
            <a:lvl2pPr indent="0" lvl="1" marL="0" marR="0" rtl="0" algn="r">
              <a:spcBef>
                <a:spcPts val="0"/>
              </a:spcBef>
              <a:buNone/>
              <a:defRPr b="1" i="0" sz="1400" u="none" cap="none" strike="noStrike">
                <a:solidFill>
                  <a:schemeClr val="dk1"/>
                </a:solidFill>
                <a:latin typeface="Calibri"/>
                <a:ea typeface="Calibri"/>
                <a:cs typeface="Calibri"/>
                <a:sym typeface="Calibri"/>
              </a:defRPr>
            </a:lvl2pPr>
            <a:lvl3pPr indent="0" lvl="2" marL="0" marR="0" rtl="0" algn="r">
              <a:spcBef>
                <a:spcPts val="0"/>
              </a:spcBef>
              <a:buNone/>
              <a:defRPr b="1" i="0" sz="1400" u="none" cap="none" strike="noStrike">
                <a:solidFill>
                  <a:schemeClr val="dk1"/>
                </a:solidFill>
                <a:latin typeface="Calibri"/>
                <a:ea typeface="Calibri"/>
                <a:cs typeface="Calibri"/>
                <a:sym typeface="Calibri"/>
              </a:defRPr>
            </a:lvl3pPr>
            <a:lvl4pPr indent="0" lvl="3" marL="0" marR="0" rtl="0" algn="r">
              <a:spcBef>
                <a:spcPts val="0"/>
              </a:spcBef>
              <a:buNone/>
              <a:defRPr b="1" i="0" sz="1400" u="none" cap="none" strike="noStrike">
                <a:solidFill>
                  <a:schemeClr val="dk1"/>
                </a:solidFill>
                <a:latin typeface="Calibri"/>
                <a:ea typeface="Calibri"/>
                <a:cs typeface="Calibri"/>
                <a:sym typeface="Calibri"/>
              </a:defRPr>
            </a:lvl4pPr>
            <a:lvl5pPr indent="0" lvl="4" marL="0" marR="0" rtl="0" algn="r">
              <a:spcBef>
                <a:spcPts val="0"/>
              </a:spcBef>
              <a:buNone/>
              <a:defRPr b="1" i="0" sz="1400" u="none" cap="none" strike="noStrike">
                <a:solidFill>
                  <a:schemeClr val="dk1"/>
                </a:solidFill>
                <a:latin typeface="Calibri"/>
                <a:ea typeface="Calibri"/>
                <a:cs typeface="Calibri"/>
                <a:sym typeface="Calibri"/>
              </a:defRPr>
            </a:lvl5pPr>
            <a:lvl6pPr indent="0" lvl="5" marL="0" marR="0" rtl="0" algn="r">
              <a:spcBef>
                <a:spcPts val="0"/>
              </a:spcBef>
              <a:buNone/>
              <a:defRPr b="1" i="0" sz="1400" u="none" cap="none" strike="noStrike">
                <a:solidFill>
                  <a:schemeClr val="dk1"/>
                </a:solidFill>
                <a:latin typeface="Calibri"/>
                <a:ea typeface="Calibri"/>
                <a:cs typeface="Calibri"/>
                <a:sym typeface="Calibri"/>
              </a:defRPr>
            </a:lvl6pPr>
            <a:lvl7pPr indent="0" lvl="6" marL="0" marR="0" rtl="0" algn="r">
              <a:spcBef>
                <a:spcPts val="0"/>
              </a:spcBef>
              <a:buNone/>
              <a:defRPr b="1" i="0" sz="1400" u="none" cap="none" strike="noStrike">
                <a:solidFill>
                  <a:schemeClr val="dk1"/>
                </a:solidFill>
                <a:latin typeface="Calibri"/>
                <a:ea typeface="Calibri"/>
                <a:cs typeface="Calibri"/>
                <a:sym typeface="Calibri"/>
              </a:defRPr>
            </a:lvl7pPr>
            <a:lvl8pPr indent="0" lvl="7" marL="0" marR="0" rtl="0" algn="r">
              <a:spcBef>
                <a:spcPts val="0"/>
              </a:spcBef>
              <a:buNone/>
              <a:defRPr b="1" i="0" sz="1400" u="none" cap="none" strike="noStrike">
                <a:solidFill>
                  <a:schemeClr val="dk1"/>
                </a:solidFill>
                <a:latin typeface="Calibri"/>
                <a:ea typeface="Calibri"/>
                <a:cs typeface="Calibri"/>
                <a:sym typeface="Calibri"/>
              </a:defRPr>
            </a:lvl8pPr>
            <a:lvl9pPr indent="0" lvl="8" marL="0" marR="0" rtl="0" algn="r">
              <a:spcBef>
                <a:spcPts val="0"/>
              </a:spcBef>
              <a:buNone/>
              <a:defRPr b="1" i="0" sz="14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a:t>
            </a:r>
            <a:endParaRPr/>
          </a:p>
        </p:txBody>
      </p:sp>
      <p:sp>
        <p:nvSpPr>
          <p:cNvPr id="16" name="Google Shape;16;p1"/>
          <p:cNvSpPr/>
          <p:nvPr/>
        </p:nvSpPr>
        <p:spPr>
          <a:xfrm>
            <a:off x="187812" y="6397160"/>
            <a:ext cx="1587704" cy="503174"/>
          </a:xfrm>
          <a:custGeom>
            <a:rect b="b" l="l" r="r" t="t"/>
            <a:pathLst>
              <a:path extrusionOk="0" h="1139407" w="3556017">
                <a:moveTo>
                  <a:pt x="0" y="0"/>
                </a:moveTo>
                <a:lnTo>
                  <a:pt x="3556017" y="0"/>
                </a:lnTo>
                <a:lnTo>
                  <a:pt x="3556017" y="1139407"/>
                </a:lnTo>
                <a:lnTo>
                  <a:pt x="0" y="1139407"/>
                </a:lnTo>
                <a:lnTo>
                  <a:pt x="0" y="0"/>
                </a:lnTo>
                <a:close/>
              </a:path>
            </a:pathLst>
          </a:custGeom>
          <a:blipFill rotWithShape="1">
            <a:blip r:embed="rId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0" y="567671"/>
            <a:ext cx="12192000" cy="600075"/>
          </a:xfrm>
          <a:prstGeom prst="snip2DiagRect">
            <a:avLst>
              <a:gd fmla="val 0" name="adj1"/>
              <a:gd fmla="val 16667" name="adj2"/>
            </a:avLst>
          </a:prstGeom>
          <a:solidFill>
            <a:srgbClr val="9BD3E5"/>
          </a:solidFill>
          <a:ln cap="flat" cmpd="sng" w="12700">
            <a:solidFill>
              <a:srgbClr val="9BD3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 name="Google Shape;18;p1"/>
          <p:cNvSpPr/>
          <p:nvPr/>
        </p:nvSpPr>
        <p:spPr>
          <a:xfrm>
            <a:off x="0" y="320021"/>
            <a:ext cx="12192000" cy="727729"/>
          </a:xfrm>
          <a:prstGeom prst="snip2DiagRect">
            <a:avLst>
              <a:gd fmla="val 0" name="adj1"/>
              <a:gd fmla="val 16667" name="adj2"/>
            </a:avLst>
          </a:prstGeom>
          <a:solidFill>
            <a:srgbClr val="75A6C5"/>
          </a:solidFill>
          <a:ln cap="flat" cmpd="sng" w="12700">
            <a:solidFill>
              <a:srgbClr val="75A6C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 name="Google Shape;19;p1"/>
          <p:cNvSpPr/>
          <p:nvPr/>
        </p:nvSpPr>
        <p:spPr>
          <a:xfrm>
            <a:off x="0" y="0"/>
            <a:ext cx="12192000" cy="228600"/>
          </a:xfrm>
          <a:prstGeom prst="rect">
            <a:avLst/>
          </a:prstGeom>
          <a:solidFill>
            <a:srgbClr val="9BD3E5"/>
          </a:solidFill>
          <a:ln cap="flat" cmpd="sng" w="12700">
            <a:solidFill>
              <a:srgbClr val="9BD3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 name="Google Shape;20;p1"/>
          <p:cNvSpPr/>
          <p:nvPr/>
        </p:nvSpPr>
        <p:spPr>
          <a:xfrm>
            <a:off x="8524875" y="400050"/>
            <a:ext cx="3667125" cy="710546"/>
          </a:xfrm>
          <a:prstGeom prst="snip2DiagRect">
            <a:avLst>
              <a:gd fmla="val 0" name="adj1"/>
              <a:gd fmla="val 16667" name="adj2"/>
            </a:avLst>
          </a:prstGeom>
          <a:solidFill>
            <a:srgbClr val="75A6C5"/>
          </a:solidFill>
          <a:ln cap="flat" cmpd="sng" w="9525">
            <a:solidFill>
              <a:srgbClr val="75A6C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1" name="Google Shape;21;p1"/>
          <p:cNvPicPr preferRelativeResize="0"/>
          <p:nvPr/>
        </p:nvPicPr>
        <p:blipFill rotWithShape="1">
          <a:blip r:embed="rId2">
            <a:alphaModFix/>
          </a:blip>
          <a:srcRect b="0" l="0" r="0" t="0"/>
          <a:stretch/>
        </p:blipFill>
        <p:spPr>
          <a:xfrm>
            <a:off x="10895532" y="361950"/>
            <a:ext cx="1229793" cy="710547"/>
          </a:xfrm>
          <a:prstGeom prst="rect">
            <a:avLst/>
          </a:prstGeom>
          <a:noFill/>
          <a:ln>
            <a:noFill/>
          </a:ln>
        </p:spPr>
      </p:pic>
      <p:sp>
        <p:nvSpPr>
          <p:cNvPr id="22" name="Google Shape;22;p1"/>
          <p:cNvSpPr txBox="1"/>
          <p:nvPr/>
        </p:nvSpPr>
        <p:spPr>
          <a:xfrm>
            <a:off x="4502458" y="6520223"/>
            <a:ext cx="3187083"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rgbClr val="1F3864"/>
                </a:solidFill>
                <a:latin typeface="Calibri"/>
                <a:ea typeface="Calibri"/>
                <a:cs typeface="Calibri"/>
                <a:sym typeface="Calibri"/>
              </a:rPr>
              <a:t>CÔNG NGHỆ IOT</a:t>
            </a:r>
            <a:endParaRPr b="1"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Google Shape;96;p13"/>
          <p:cNvSpPr txBox="1"/>
          <p:nvPr/>
        </p:nvSpPr>
        <p:spPr>
          <a:xfrm>
            <a:off x="1363744" y="2024266"/>
            <a:ext cx="9464511"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rgbClr val="0070C0"/>
                </a:solidFill>
                <a:latin typeface="Times New Roman"/>
                <a:ea typeface="Times New Roman"/>
                <a:cs typeface="Times New Roman"/>
                <a:sym typeface="Times New Roman"/>
              </a:rPr>
              <a:t>ĐỒ ÁN CẢM BIẾN &amp; CƠ CẤU CHẤP HÀNH</a:t>
            </a:r>
            <a:endParaRPr b="1" sz="3600">
              <a:solidFill>
                <a:srgbClr val="0070C0"/>
              </a:solidFill>
              <a:latin typeface="Calibri"/>
              <a:ea typeface="Calibri"/>
              <a:cs typeface="Calibri"/>
              <a:sym typeface="Calibri"/>
            </a:endParaRPr>
          </a:p>
        </p:txBody>
      </p:sp>
      <p:sp>
        <p:nvSpPr>
          <p:cNvPr id="97" name="Google Shape;97;p13"/>
          <p:cNvSpPr txBox="1"/>
          <p:nvPr/>
        </p:nvSpPr>
        <p:spPr>
          <a:xfrm>
            <a:off x="2808574" y="2895320"/>
            <a:ext cx="6574848" cy="7308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Clr>
                <a:schemeClr val="dk2"/>
              </a:buClr>
              <a:buSzPts val="1800"/>
              <a:buFont typeface="Times New Roman"/>
              <a:buNone/>
            </a:pPr>
            <a:r>
              <a:rPr b="1" lang="en-US" sz="1800">
                <a:solidFill>
                  <a:schemeClr val="dk2"/>
                </a:solidFill>
                <a:latin typeface="Times New Roman"/>
                <a:ea typeface="Times New Roman"/>
                <a:cs typeface="Times New Roman"/>
                <a:sym typeface="Times New Roman"/>
              </a:rPr>
              <a:t>Robot Micromouse - Giải Thuật Di Chuyển Trong Mê Cung</a:t>
            </a:r>
            <a:endParaRPr b="1" sz="1800">
              <a:solidFill>
                <a:schemeClr val="dk2"/>
              </a:solidFill>
              <a:latin typeface="Times New Roman"/>
              <a:ea typeface="Times New Roman"/>
              <a:cs typeface="Times New Roman"/>
              <a:sym typeface="Times New Roman"/>
            </a:endParaRPr>
          </a:p>
        </p:txBody>
      </p:sp>
      <p:sp>
        <p:nvSpPr>
          <p:cNvPr id="98" name="Google Shape;98;p13"/>
          <p:cNvSpPr txBox="1"/>
          <p:nvPr/>
        </p:nvSpPr>
        <p:spPr>
          <a:xfrm>
            <a:off x="4058408" y="3390392"/>
            <a:ext cx="4075180" cy="3162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Clr>
                <a:schemeClr val="dk2"/>
              </a:buClr>
              <a:buSzPts val="1800"/>
              <a:buFont typeface="Times New Roman"/>
              <a:buNone/>
            </a:pPr>
            <a:r>
              <a:rPr b="1" lang="en-US" sz="1800">
                <a:solidFill>
                  <a:schemeClr val="dk2"/>
                </a:solidFill>
                <a:latin typeface="Times New Roman"/>
                <a:ea typeface="Times New Roman"/>
                <a:cs typeface="Times New Roman"/>
                <a:sym typeface="Times New Roman"/>
              </a:rPr>
              <a:t>Ngành Robot &amp; Trí tuệ nhân tạo</a:t>
            </a:r>
            <a:endParaRPr b="1" sz="1800">
              <a:solidFill>
                <a:schemeClr val="dk2"/>
              </a:solidFill>
              <a:latin typeface="Times New Roman"/>
              <a:ea typeface="Times New Roman"/>
              <a:cs typeface="Times New Roman"/>
              <a:sym typeface="Times New Roman"/>
            </a:endParaRPr>
          </a:p>
        </p:txBody>
      </p:sp>
      <p:sp>
        <p:nvSpPr>
          <p:cNvPr id="99" name="Google Shape;99;p13"/>
          <p:cNvSpPr txBox="1"/>
          <p:nvPr/>
        </p:nvSpPr>
        <p:spPr>
          <a:xfrm>
            <a:off x="1911745" y="4117683"/>
            <a:ext cx="8368506" cy="19212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2"/>
              </a:buClr>
              <a:buSzPts val="1600"/>
              <a:buFont typeface="Arial"/>
              <a:buNone/>
            </a:pPr>
            <a:r>
              <a:rPr b="1" lang="en-US" sz="1600">
                <a:solidFill>
                  <a:schemeClr val="dk2"/>
                </a:solidFill>
                <a:latin typeface="Times New Roman"/>
                <a:ea typeface="Times New Roman"/>
                <a:cs typeface="Times New Roman"/>
                <a:sym typeface="Times New Roman"/>
              </a:rPr>
              <a:t>Lớp: 22DRTA1                                                   </a:t>
            </a:r>
            <a:endParaRPr/>
          </a:p>
          <a:p>
            <a:pPr indent="0" lvl="0" marL="0" marR="0" rtl="0" algn="l">
              <a:lnSpc>
                <a:spcPct val="90000"/>
              </a:lnSpc>
              <a:spcBef>
                <a:spcPts val="0"/>
              </a:spcBef>
              <a:spcAft>
                <a:spcPts val="0"/>
              </a:spcAft>
              <a:buClr>
                <a:schemeClr val="dk2"/>
              </a:buClr>
              <a:buSzPts val="1600"/>
              <a:buFont typeface="Arial"/>
              <a:buNone/>
            </a:pPr>
            <a:r>
              <a:rPr b="1" lang="en-US" sz="1600">
                <a:solidFill>
                  <a:schemeClr val="dk2"/>
                </a:solidFill>
                <a:latin typeface="Times New Roman"/>
                <a:ea typeface="Times New Roman"/>
                <a:cs typeface="Times New Roman"/>
                <a:sym typeface="Times New Roman"/>
              </a:rPr>
              <a:t>Nhóm 4:</a:t>
            </a:r>
            <a:endParaRPr/>
          </a:p>
          <a:p>
            <a:pPr indent="0" lvl="0" marL="0" marR="0" rtl="0" algn="l">
              <a:lnSpc>
                <a:spcPct val="90000"/>
              </a:lnSpc>
              <a:spcBef>
                <a:spcPts val="0"/>
              </a:spcBef>
              <a:spcAft>
                <a:spcPts val="0"/>
              </a:spcAft>
              <a:buClr>
                <a:schemeClr val="dk2"/>
              </a:buClr>
              <a:buSzPts val="1600"/>
              <a:buFont typeface="Arial"/>
              <a:buNone/>
            </a:pPr>
            <a:r>
              <a:rPr b="1" lang="en-US" sz="1600">
                <a:solidFill>
                  <a:schemeClr val="dk2"/>
                </a:solidFill>
                <a:latin typeface="Times New Roman"/>
                <a:ea typeface="Times New Roman"/>
                <a:cs typeface="Times New Roman"/>
                <a:sym typeface="Times New Roman"/>
              </a:rPr>
              <a:t>Tên thành viên: Nguyễn Chấn Huy                       Giảng viên hướng dẫn: TS.Phạm Quốc Thiện</a:t>
            </a:r>
            <a:endParaRPr/>
          </a:p>
          <a:p>
            <a:pPr indent="0" lvl="0" marL="0" marR="0" rtl="0" algn="l">
              <a:lnSpc>
                <a:spcPct val="90000"/>
              </a:lnSpc>
              <a:spcBef>
                <a:spcPts val="0"/>
              </a:spcBef>
              <a:spcAft>
                <a:spcPts val="0"/>
              </a:spcAft>
              <a:buClr>
                <a:schemeClr val="dk2"/>
              </a:buClr>
              <a:buSzPts val="1600"/>
              <a:buFont typeface="Arial"/>
              <a:buNone/>
            </a:pPr>
            <a:r>
              <a:rPr b="1" lang="en-US" sz="1600">
                <a:solidFill>
                  <a:schemeClr val="dk2"/>
                </a:solidFill>
                <a:latin typeface="Times New Roman"/>
                <a:ea typeface="Times New Roman"/>
                <a:cs typeface="Times New Roman"/>
                <a:sym typeface="Times New Roman"/>
              </a:rPr>
              <a:t>                            Nguyễn Văn Đạt</a:t>
            </a:r>
            <a:endParaRPr/>
          </a:p>
          <a:p>
            <a:pPr indent="0" lvl="0" marL="0" marR="0" rtl="0" algn="l">
              <a:lnSpc>
                <a:spcPct val="90000"/>
              </a:lnSpc>
              <a:spcBef>
                <a:spcPts val="0"/>
              </a:spcBef>
              <a:spcAft>
                <a:spcPts val="0"/>
              </a:spcAft>
              <a:buClr>
                <a:schemeClr val="dk2"/>
              </a:buClr>
              <a:buSzPts val="1600"/>
              <a:buFont typeface="Arial"/>
              <a:buNone/>
            </a:pPr>
            <a:r>
              <a:rPr b="1" lang="en-US" sz="1600">
                <a:solidFill>
                  <a:schemeClr val="dk2"/>
                </a:solidFill>
                <a:latin typeface="Times New Roman"/>
                <a:ea typeface="Times New Roman"/>
                <a:cs typeface="Times New Roman"/>
                <a:sym typeface="Times New Roman"/>
              </a:rPr>
              <a:t>                            Huỳnh Long</a:t>
            </a:r>
            <a:endParaRPr/>
          </a:p>
          <a:p>
            <a:pPr indent="0" lvl="0" marL="0" marR="0" rtl="0" algn="l">
              <a:lnSpc>
                <a:spcPct val="90000"/>
              </a:lnSpc>
              <a:spcBef>
                <a:spcPts val="0"/>
              </a:spcBef>
              <a:spcAft>
                <a:spcPts val="0"/>
              </a:spcAft>
              <a:buClr>
                <a:schemeClr val="dk1"/>
              </a:buClr>
              <a:buSzPts val="1600"/>
              <a:buFont typeface="Arial"/>
              <a:buNone/>
            </a:pPr>
            <a:r>
              <a:t/>
            </a:r>
            <a:endParaRPr b="1" sz="1600">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 name="Google Shape;105;p14"/>
          <p:cNvSpPr txBox="1"/>
          <p:nvPr/>
        </p:nvSpPr>
        <p:spPr>
          <a:xfrm>
            <a:off x="103695" y="405353"/>
            <a:ext cx="607086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Calibri"/>
                <a:ea typeface="Calibri"/>
                <a:cs typeface="Calibri"/>
                <a:sym typeface="Calibri"/>
              </a:rPr>
              <a:t>NỘI DUNG TRÌNH BÀY</a:t>
            </a:r>
            <a:endParaRPr b="1" sz="3200">
              <a:solidFill>
                <a:schemeClr val="lt1"/>
              </a:solidFill>
              <a:latin typeface="Calibri"/>
              <a:ea typeface="Calibri"/>
              <a:cs typeface="Calibri"/>
              <a:sym typeface="Calibri"/>
            </a:endParaRPr>
          </a:p>
        </p:txBody>
      </p:sp>
      <p:grpSp>
        <p:nvGrpSpPr>
          <p:cNvPr id="106" name="Google Shape;106;p14"/>
          <p:cNvGrpSpPr/>
          <p:nvPr/>
        </p:nvGrpSpPr>
        <p:grpSpPr>
          <a:xfrm>
            <a:off x="8125904" y="1844029"/>
            <a:ext cx="3529840" cy="3978641"/>
            <a:chOff x="2501950" y="1507050"/>
            <a:chExt cx="2392350" cy="2696525"/>
          </a:xfrm>
        </p:grpSpPr>
        <p:sp>
          <p:nvSpPr>
            <p:cNvPr id="107" name="Google Shape;107;p14"/>
            <p:cNvSpPr/>
            <p:nvPr/>
          </p:nvSpPr>
          <p:spPr>
            <a:xfrm>
              <a:off x="4032450" y="3778325"/>
              <a:ext cx="0" cy="25"/>
            </a:xfrm>
            <a:custGeom>
              <a:rect b="b" l="l" r="r" t="t"/>
              <a:pathLst>
                <a:path extrusionOk="0" h="1" w="120000">
                  <a:moveTo>
                    <a:pt x="0" y="0"/>
                  </a:move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08" name="Google Shape;108;p14"/>
            <p:cNvSpPr/>
            <p:nvPr/>
          </p:nvSpPr>
          <p:spPr>
            <a:xfrm>
              <a:off x="2720475" y="1507050"/>
              <a:ext cx="2173825" cy="2696525"/>
            </a:xfrm>
            <a:custGeom>
              <a:rect b="b" l="l" r="r" t="t"/>
              <a:pathLst>
                <a:path extrusionOk="0" h="107861" w="86953">
                  <a:moveTo>
                    <a:pt x="81393" y="927"/>
                  </a:moveTo>
                  <a:cubicBezTo>
                    <a:pt x="83963" y="927"/>
                    <a:pt x="86043" y="3008"/>
                    <a:pt x="86043" y="5577"/>
                  </a:cubicBezTo>
                  <a:lnTo>
                    <a:pt x="86043" y="102284"/>
                  </a:lnTo>
                  <a:cubicBezTo>
                    <a:pt x="86043" y="104854"/>
                    <a:pt x="83963" y="106934"/>
                    <a:pt x="81393" y="106934"/>
                  </a:cubicBezTo>
                  <a:lnTo>
                    <a:pt x="5559" y="106934"/>
                  </a:lnTo>
                  <a:cubicBezTo>
                    <a:pt x="2989" y="106934"/>
                    <a:pt x="909" y="104854"/>
                    <a:pt x="909" y="102284"/>
                  </a:cubicBezTo>
                  <a:lnTo>
                    <a:pt x="909" y="5577"/>
                  </a:lnTo>
                  <a:cubicBezTo>
                    <a:pt x="909" y="3008"/>
                    <a:pt x="2989" y="927"/>
                    <a:pt x="5559" y="927"/>
                  </a:cubicBezTo>
                  <a:close/>
                  <a:moveTo>
                    <a:pt x="5559" y="1"/>
                  </a:moveTo>
                  <a:cubicBezTo>
                    <a:pt x="2482" y="18"/>
                    <a:pt x="0" y="2501"/>
                    <a:pt x="0" y="5577"/>
                  </a:cubicBezTo>
                  <a:lnTo>
                    <a:pt x="0" y="102284"/>
                  </a:lnTo>
                  <a:cubicBezTo>
                    <a:pt x="0" y="105361"/>
                    <a:pt x="2482" y="107843"/>
                    <a:pt x="5559" y="107860"/>
                  </a:cubicBezTo>
                  <a:lnTo>
                    <a:pt x="81393" y="107860"/>
                  </a:lnTo>
                  <a:cubicBezTo>
                    <a:pt x="84470" y="107843"/>
                    <a:pt x="86952" y="105361"/>
                    <a:pt x="86952" y="102284"/>
                  </a:cubicBezTo>
                  <a:lnTo>
                    <a:pt x="86952" y="5577"/>
                  </a:lnTo>
                  <a:cubicBezTo>
                    <a:pt x="86952" y="2501"/>
                    <a:pt x="84470" y="18"/>
                    <a:pt x="81393" y="1"/>
                  </a:cubicBez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09" name="Google Shape;109;p14"/>
            <p:cNvSpPr/>
            <p:nvPr/>
          </p:nvSpPr>
          <p:spPr>
            <a:xfrm>
              <a:off x="2810050" y="1616325"/>
              <a:ext cx="1994650" cy="2478000"/>
            </a:xfrm>
            <a:custGeom>
              <a:rect b="b" l="l" r="r" t="t"/>
              <a:pathLst>
                <a:path extrusionOk="0" h="99120" w="79786">
                  <a:moveTo>
                    <a:pt x="74961" y="227"/>
                  </a:moveTo>
                  <a:cubicBezTo>
                    <a:pt x="77495" y="227"/>
                    <a:pt x="79576" y="2290"/>
                    <a:pt x="79576" y="4842"/>
                  </a:cubicBezTo>
                  <a:lnTo>
                    <a:pt x="79576" y="94277"/>
                  </a:lnTo>
                  <a:cubicBezTo>
                    <a:pt x="79576" y="96829"/>
                    <a:pt x="77495" y="98892"/>
                    <a:pt x="74961" y="98892"/>
                  </a:cubicBezTo>
                  <a:lnTo>
                    <a:pt x="4843" y="98892"/>
                  </a:lnTo>
                  <a:cubicBezTo>
                    <a:pt x="2291" y="98892"/>
                    <a:pt x="210" y="96829"/>
                    <a:pt x="210" y="94277"/>
                  </a:cubicBezTo>
                  <a:lnTo>
                    <a:pt x="210" y="4842"/>
                  </a:lnTo>
                  <a:cubicBezTo>
                    <a:pt x="210" y="2290"/>
                    <a:pt x="2291" y="227"/>
                    <a:pt x="4843" y="227"/>
                  </a:cubicBezTo>
                  <a:close/>
                  <a:moveTo>
                    <a:pt x="4843" y="0"/>
                  </a:moveTo>
                  <a:cubicBezTo>
                    <a:pt x="2168" y="18"/>
                    <a:pt x="1" y="2168"/>
                    <a:pt x="1" y="4842"/>
                  </a:cubicBezTo>
                  <a:lnTo>
                    <a:pt x="1" y="94277"/>
                  </a:lnTo>
                  <a:cubicBezTo>
                    <a:pt x="1" y="96951"/>
                    <a:pt x="2168" y="99102"/>
                    <a:pt x="4843" y="99119"/>
                  </a:cubicBezTo>
                  <a:lnTo>
                    <a:pt x="74961" y="99119"/>
                  </a:lnTo>
                  <a:cubicBezTo>
                    <a:pt x="77618" y="99102"/>
                    <a:pt x="79786" y="96951"/>
                    <a:pt x="79786" y="94277"/>
                  </a:cubicBezTo>
                  <a:lnTo>
                    <a:pt x="79786" y="4842"/>
                  </a:lnTo>
                  <a:cubicBezTo>
                    <a:pt x="79786" y="2168"/>
                    <a:pt x="77618" y="18"/>
                    <a:pt x="74961" y="0"/>
                  </a:cubicBez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0" name="Google Shape;110;p14"/>
            <p:cNvSpPr/>
            <p:nvPr/>
          </p:nvSpPr>
          <p:spPr>
            <a:xfrm>
              <a:off x="2501950" y="2406475"/>
              <a:ext cx="100100" cy="30175"/>
            </a:xfrm>
            <a:custGeom>
              <a:rect b="b" l="l" r="r" t="t"/>
              <a:pathLst>
                <a:path extrusionOk="0" h="1207" w="4004">
                  <a:moveTo>
                    <a:pt x="0" y="0"/>
                  </a:moveTo>
                  <a:lnTo>
                    <a:pt x="0" y="1207"/>
                  </a:lnTo>
                  <a:lnTo>
                    <a:pt x="4004" y="1207"/>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1" name="Google Shape;111;p14"/>
            <p:cNvSpPr/>
            <p:nvPr/>
          </p:nvSpPr>
          <p:spPr>
            <a:xfrm>
              <a:off x="2501950" y="2341800"/>
              <a:ext cx="100100" cy="30175"/>
            </a:xfrm>
            <a:custGeom>
              <a:rect b="b" l="l" r="r" t="t"/>
              <a:pathLst>
                <a:path extrusionOk="0" h="1207" w="4004">
                  <a:moveTo>
                    <a:pt x="0" y="0"/>
                  </a:moveTo>
                  <a:lnTo>
                    <a:pt x="0" y="1206"/>
                  </a:lnTo>
                  <a:lnTo>
                    <a:pt x="4004" y="1206"/>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2" name="Google Shape;112;p14"/>
            <p:cNvSpPr/>
            <p:nvPr/>
          </p:nvSpPr>
          <p:spPr>
            <a:xfrm>
              <a:off x="2501950" y="2471150"/>
              <a:ext cx="100100" cy="30175"/>
            </a:xfrm>
            <a:custGeom>
              <a:rect b="b" l="l" r="r" t="t"/>
              <a:pathLst>
                <a:path extrusionOk="0" h="1207"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3" name="Google Shape;113;p14"/>
            <p:cNvSpPr/>
            <p:nvPr/>
          </p:nvSpPr>
          <p:spPr>
            <a:xfrm>
              <a:off x="2501950" y="2535400"/>
              <a:ext cx="100100" cy="30600"/>
            </a:xfrm>
            <a:custGeom>
              <a:rect b="b" l="l" r="r" t="t"/>
              <a:pathLst>
                <a:path extrusionOk="0" h="1224" w="4004">
                  <a:moveTo>
                    <a:pt x="0" y="0"/>
                  </a:moveTo>
                  <a:lnTo>
                    <a:pt x="0" y="1224"/>
                  </a:lnTo>
                  <a:lnTo>
                    <a:pt x="4004" y="1224"/>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4" name="Google Shape;114;p14"/>
            <p:cNvSpPr/>
            <p:nvPr/>
          </p:nvSpPr>
          <p:spPr>
            <a:xfrm>
              <a:off x="2501950" y="2600075"/>
              <a:ext cx="100100" cy="30625"/>
            </a:xfrm>
            <a:custGeom>
              <a:rect b="b" l="l" r="r" t="t"/>
              <a:pathLst>
                <a:path extrusionOk="0" h="1225" w="4004">
                  <a:moveTo>
                    <a:pt x="0" y="1"/>
                  </a:moveTo>
                  <a:lnTo>
                    <a:pt x="0" y="1224"/>
                  </a:lnTo>
                  <a:lnTo>
                    <a:pt x="4004" y="1224"/>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5" name="Google Shape;115;p14"/>
            <p:cNvSpPr/>
            <p:nvPr/>
          </p:nvSpPr>
          <p:spPr>
            <a:xfrm>
              <a:off x="2501950" y="2083075"/>
              <a:ext cx="100100" cy="30175"/>
            </a:xfrm>
            <a:custGeom>
              <a:rect b="b" l="l" r="r" t="t"/>
              <a:pathLst>
                <a:path extrusionOk="0" h="1207" w="4004">
                  <a:moveTo>
                    <a:pt x="0" y="0"/>
                  </a:moveTo>
                  <a:lnTo>
                    <a:pt x="0" y="1206"/>
                  </a:lnTo>
                  <a:lnTo>
                    <a:pt x="4004" y="1206"/>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6" name="Google Shape;116;p14"/>
            <p:cNvSpPr/>
            <p:nvPr/>
          </p:nvSpPr>
          <p:spPr>
            <a:xfrm>
              <a:off x="2501950" y="2018375"/>
              <a:ext cx="100100" cy="30200"/>
            </a:xfrm>
            <a:custGeom>
              <a:rect b="b" l="l" r="r" t="t"/>
              <a:pathLst>
                <a:path extrusionOk="0" h="1208"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7" name="Google Shape;117;p14"/>
            <p:cNvSpPr/>
            <p:nvPr/>
          </p:nvSpPr>
          <p:spPr>
            <a:xfrm>
              <a:off x="2501950" y="2147750"/>
              <a:ext cx="100100" cy="30175"/>
            </a:xfrm>
            <a:custGeom>
              <a:rect b="b" l="l" r="r" t="t"/>
              <a:pathLst>
                <a:path extrusionOk="0" h="1207" w="4004">
                  <a:moveTo>
                    <a:pt x="0" y="0"/>
                  </a:moveTo>
                  <a:lnTo>
                    <a:pt x="0" y="1207"/>
                  </a:lnTo>
                  <a:lnTo>
                    <a:pt x="4004" y="1207"/>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8" name="Google Shape;118;p14"/>
            <p:cNvSpPr/>
            <p:nvPr/>
          </p:nvSpPr>
          <p:spPr>
            <a:xfrm>
              <a:off x="2501950" y="2212425"/>
              <a:ext cx="100100" cy="30175"/>
            </a:xfrm>
            <a:custGeom>
              <a:rect b="b" l="l" r="r" t="t"/>
              <a:pathLst>
                <a:path extrusionOk="0" h="1207"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9" name="Google Shape;119;p14"/>
            <p:cNvSpPr/>
            <p:nvPr/>
          </p:nvSpPr>
          <p:spPr>
            <a:xfrm>
              <a:off x="2501950" y="2277100"/>
              <a:ext cx="100100" cy="30200"/>
            </a:xfrm>
            <a:custGeom>
              <a:rect b="b" l="l" r="r" t="t"/>
              <a:pathLst>
                <a:path extrusionOk="0" h="1208"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20" name="Google Shape;120;p14"/>
            <p:cNvSpPr/>
            <p:nvPr/>
          </p:nvSpPr>
          <p:spPr>
            <a:xfrm>
              <a:off x="2501950" y="1759650"/>
              <a:ext cx="100100" cy="30200"/>
            </a:xfrm>
            <a:custGeom>
              <a:rect b="b" l="l" r="r" t="t"/>
              <a:pathLst>
                <a:path extrusionOk="0" h="1208"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21" name="Google Shape;121;p14"/>
            <p:cNvSpPr/>
            <p:nvPr/>
          </p:nvSpPr>
          <p:spPr>
            <a:xfrm>
              <a:off x="2501950" y="1694975"/>
              <a:ext cx="100100" cy="30175"/>
            </a:xfrm>
            <a:custGeom>
              <a:rect b="b" l="l" r="r" t="t"/>
              <a:pathLst>
                <a:path extrusionOk="0" h="1207"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22" name="Google Shape;122;p14"/>
            <p:cNvSpPr/>
            <p:nvPr/>
          </p:nvSpPr>
          <p:spPr>
            <a:xfrm>
              <a:off x="2501950" y="1824350"/>
              <a:ext cx="100100" cy="30175"/>
            </a:xfrm>
            <a:custGeom>
              <a:rect b="b" l="l" r="r" t="t"/>
              <a:pathLst>
                <a:path extrusionOk="0" h="1207" w="4004">
                  <a:moveTo>
                    <a:pt x="0" y="0"/>
                  </a:moveTo>
                  <a:lnTo>
                    <a:pt x="0" y="1206"/>
                  </a:lnTo>
                  <a:lnTo>
                    <a:pt x="4004" y="1206"/>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23" name="Google Shape;123;p14"/>
            <p:cNvSpPr/>
            <p:nvPr/>
          </p:nvSpPr>
          <p:spPr>
            <a:xfrm>
              <a:off x="2501950" y="1889025"/>
              <a:ext cx="100100" cy="30175"/>
            </a:xfrm>
            <a:custGeom>
              <a:rect b="b" l="l" r="r" t="t"/>
              <a:pathLst>
                <a:path extrusionOk="0" h="1207" w="4004">
                  <a:moveTo>
                    <a:pt x="0" y="0"/>
                  </a:moveTo>
                  <a:lnTo>
                    <a:pt x="0" y="1207"/>
                  </a:lnTo>
                  <a:lnTo>
                    <a:pt x="4004" y="1207"/>
                  </a:lnTo>
                  <a:lnTo>
                    <a:pt x="4004" y="0"/>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24" name="Google Shape;124;p14"/>
            <p:cNvSpPr/>
            <p:nvPr/>
          </p:nvSpPr>
          <p:spPr>
            <a:xfrm>
              <a:off x="2501950" y="1953700"/>
              <a:ext cx="100100" cy="30175"/>
            </a:xfrm>
            <a:custGeom>
              <a:rect b="b" l="l" r="r" t="t"/>
              <a:pathLst>
                <a:path extrusionOk="0" h="1207" w="4004">
                  <a:moveTo>
                    <a:pt x="0" y="1"/>
                  </a:moveTo>
                  <a:lnTo>
                    <a:pt x="0" y="1207"/>
                  </a:lnTo>
                  <a:lnTo>
                    <a:pt x="4004" y="1207"/>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25" name="Google Shape;125;p14"/>
            <p:cNvSpPr/>
            <p:nvPr/>
          </p:nvSpPr>
          <p:spPr>
            <a:xfrm>
              <a:off x="2501950" y="2668250"/>
              <a:ext cx="100100" cy="1423000"/>
            </a:xfrm>
            <a:custGeom>
              <a:rect b="b" l="l" r="r" t="t"/>
              <a:pathLst>
                <a:path extrusionOk="0" h="56920" w="4004">
                  <a:moveTo>
                    <a:pt x="0" y="1"/>
                  </a:moveTo>
                  <a:lnTo>
                    <a:pt x="0" y="56920"/>
                  </a:lnTo>
                  <a:lnTo>
                    <a:pt x="4004" y="56920"/>
                  </a:lnTo>
                  <a:lnTo>
                    <a:pt x="4004" y="1"/>
                  </a:lnTo>
                  <a:close/>
                </a:path>
              </a:pathLst>
            </a:custGeom>
            <a:solidFill>
              <a:srgbClr val="3E8EB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pic>
        <p:nvPicPr>
          <p:cNvPr id="126" name="Google Shape;126;p14"/>
          <p:cNvPicPr preferRelativeResize="0"/>
          <p:nvPr/>
        </p:nvPicPr>
        <p:blipFill rotWithShape="1">
          <a:blip r:embed="rId3">
            <a:alphaModFix/>
          </a:blip>
          <a:srcRect b="0" l="0" r="0" t="0"/>
          <a:stretch/>
        </p:blipFill>
        <p:spPr>
          <a:xfrm flipH="1">
            <a:off x="8580496" y="2877640"/>
            <a:ext cx="2943046" cy="2287171"/>
          </a:xfrm>
          <a:prstGeom prst="rect">
            <a:avLst/>
          </a:prstGeom>
          <a:noFill/>
          <a:ln>
            <a:noFill/>
          </a:ln>
        </p:spPr>
      </p:pic>
      <p:sp>
        <p:nvSpPr>
          <p:cNvPr id="127" name="Google Shape;127;p14"/>
          <p:cNvSpPr txBox="1"/>
          <p:nvPr/>
        </p:nvSpPr>
        <p:spPr>
          <a:xfrm>
            <a:off x="1527412" y="1788517"/>
            <a:ext cx="6070862" cy="4434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rgbClr val="3E8EB2"/>
              </a:buClr>
              <a:buSzPts val="2800"/>
              <a:buFont typeface="Arial"/>
              <a:buNone/>
            </a:pPr>
            <a:r>
              <a:rPr b="1" lang="en-US" sz="2800">
                <a:solidFill>
                  <a:srgbClr val="3E8EB2"/>
                </a:solidFill>
                <a:latin typeface="Arial"/>
                <a:ea typeface="Arial"/>
                <a:cs typeface="Arial"/>
                <a:sym typeface="Arial"/>
              </a:rPr>
              <a:t>Cảm biến dùng để làm gì?</a:t>
            </a:r>
            <a:endParaRPr b="1" sz="2800">
              <a:solidFill>
                <a:srgbClr val="3E8EB2"/>
              </a:solidFill>
              <a:latin typeface="Arial"/>
              <a:ea typeface="Arial"/>
              <a:cs typeface="Arial"/>
              <a:sym typeface="Arial"/>
            </a:endParaRPr>
          </a:p>
        </p:txBody>
      </p:sp>
      <p:sp>
        <p:nvSpPr>
          <p:cNvPr id="128" name="Google Shape;128;p14"/>
          <p:cNvSpPr/>
          <p:nvPr/>
        </p:nvSpPr>
        <p:spPr>
          <a:xfrm>
            <a:off x="556501" y="3434631"/>
            <a:ext cx="772896" cy="771194"/>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02</a:t>
            </a:r>
            <a:endParaRPr b="1" sz="2400">
              <a:solidFill>
                <a:schemeClr val="lt1"/>
              </a:solidFill>
              <a:latin typeface="Calibri"/>
              <a:ea typeface="Calibri"/>
              <a:cs typeface="Calibri"/>
              <a:sym typeface="Calibri"/>
            </a:endParaRPr>
          </a:p>
        </p:txBody>
      </p:sp>
      <p:sp>
        <p:nvSpPr>
          <p:cNvPr id="129" name="Google Shape;129;p14"/>
          <p:cNvSpPr/>
          <p:nvPr/>
        </p:nvSpPr>
        <p:spPr>
          <a:xfrm>
            <a:off x="597408" y="1690585"/>
            <a:ext cx="772896" cy="771194"/>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01</a:t>
            </a:r>
            <a:endParaRPr b="1" sz="2400">
              <a:solidFill>
                <a:schemeClr val="lt1"/>
              </a:solidFill>
              <a:latin typeface="Calibri"/>
              <a:ea typeface="Calibri"/>
              <a:cs typeface="Calibri"/>
              <a:sym typeface="Calibri"/>
            </a:endParaRPr>
          </a:p>
        </p:txBody>
      </p:sp>
      <p:sp>
        <p:nvSpPr>
          <p:cNvPr id="130" name="Google Shape;130;p14"/>
          <p:cNvSpPr txBox="1"/>
          <p:nvPr/>
        </p:nvSpPr>
        <p:spPr>
          <a:xfrm>
            <a:off x="1527411" y="3557344"/>
            <a:ext cx="5429569" cy="4434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rgbClr val="3E8EB2"/>
              </a:buClr>
              <a:buSzPts val="2800"/>
              <a:buFont typeface="Arial"/>
              <a:buNone/>
            </a:pPr>
            <a:r>
              <a:rPr b="1" lang="en-US" sz="2800">
                <a:solidFill>
                  <a:srgbClr val="3E8EB2"/>
                </a:solidFill>
                <a:latin typeface="Arial"/>
                <a:ea typeface="Arial"/>
                <a:cs typeface="Arial"/>
                <a:sym typeface="Arial"/>
              </a:rPr>
              <a:t>PID dùng cho việc gì?</a:t>
            </a:r>
            <a:endParaRPr b="1" sz="2800">
              <a:solidFill>
                <a:srgbClr val="3E8EB2"/>
              </a:solidFill>
              <a:latin typeface="Arial"/>
              <a:ea typeface="Arial"/>
              <a:cs typeface="Arial"/>
              <a:sym typeface="Arial"/>
            </a:endParaRPr>
          </a:p>
        </p:txBody>
      </p:sp>
      <p:sp>
        <p:nvSpPr>
          <p:cNvPr id="131" name="Google Shape;131;p14"/>
          <p:cNvSpPr/>
          <p:nvPr/>
        </p:nvSpPr>
        <p:spPr>
          <a:xfrm>
            <a:off x="597408" y="5213867"/>
            <a:ext cx="772896" cy="771194"/>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03</a:t>
            </a:r>
            <a:endParaRPr b="1" sz="2400">
              <a:solidFill>
                <a:schemeClr val="lt1"/>
              </a:solidFill>
              <a:latin typeface="Calibri"/>
              <a:ea typeface="Calibri"/>
              <a:cs typeface="Calibri"/>
              <a:sym typeface="Calibri"/>
            </a:endParaRPr>
          </a:p>
        </p:txBody>
      </p:sp>
      <p:sp>
        <p:nvSpPr>
          <p:cNvPr id="132" name="Google Shape;132;p14"/>
          <p:cNvSpPr txBox="1"/>
          <p:nvPr/>
        </p:nvSpPr>
        <p:spPr>
          <a:xfrm>
            <a:off x="1527411" y="5377764"/>
            <a:ext cx="4298353" cy="4434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rgbClr val="3E8EB2"/>
              </a:buClr>
              <a:buSzPts val="2800"/>
              <a:buFont typeface="Arial"/>
              <a:buNone/>
            </a:pPr>
            <a:r>
              <a:rPr b="1" lang="en-US" sz="2800">
                <a:solidFill>
                  <a:srgbClr val="3E8EB2"/>
                </a:solidFill>
                <a:latin typeface="Arial"/>
                <a:ea typeface="Arial"/>
                <a:cs typeface="Arial"/>
                <a:sym typeface="Arial"/>
              </a:rPr>
              <a:t>Báo cáo tiến độ </a:t>
            </a:r>
            <a:endParaRPr b="1" sz="2800">
              <a:solidFill>
                <a:srgbClr val="3E8EB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5"/>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8" name="Google Shape;138;p15"/>
          <p:cNvSpPr txBox="1"/>
          <p:nvPr/>
        </p:nvSpPr>
        <p:spPr>
          <a:xfrm>
            <a:off x="1103206" y="421631"/>
            <a:ext cx="5608679" cy="409643"/>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chemeClr val="lt1"/>
              </a:buClr>
              <a:buSzPts val="2800"/>
              <a:buFont typeface="Arial"/>
              <a:buNone/>
            </a:pPr>
            <a:r>
              <a:rPr b="1" lang="en-US" sz="2800">
                <a:solidFill>
                  <a:schemeClr val="lt1"/>
                </a:solidFill>
                <a:latin typeface="Arial"/>
                <a:ea typeface="Arial"/>
                <a:cs typeface="Arial"/>
                <a:sym typeface="Arial"/>
              </a:rPr>
              <a:t>Cảm biến dùng để làm gì?</a:t>
            </a:r>
            <a:endParaRPr b="1" sz="2800">
              <a:solidFill>
                <a:schemeClr val="lt1"/>
              </a:solidFill>
              <a:latin typeface="Arial"/>
              <a:ea typeface="Arial"/>
              <a:cs typeface="Arial"/>
              <a:sym typeface="Arial"/>
            </a:endParaRPr>
          </a:p>
        </p:txBody>
      </p:sp>
      <p:sp>
        <p:nvSpPr>
          <p:cNvPr id="139" name="Google Shape;139;p15"/>
          <p:cNvSpPr/>
          <p:nvPr/>
        </p:nvSpPr>
        <p:spPr>
          <a:xfrm>
            <a:off x="173202" y="323699"/>
            <a:ext cx="714054" cy="712482"/>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01</a:t>
            </a:r>
            <a:endParaRPr b="1" sz="2400">
              <a:solidFill>
                <a:schemeClr val="lt1"/>
              </a:solidFill>
              <a:latin typeface="Calibri"/>
              <a:ea typeface="Calibri"/>
              <a:cs typeface="Calibri"/>
              <a:sym typeface="Calibri"/>
            </a:endParaRPr>
          </a:p>
        </p:txBody>
      </p:sp>
      <p:sp>
        <p:nvSpPr>
          <p:cNvPr id="140" name="Google Shape;140;p15"/>
          <p:cNvSpPr txBox="1"/>
          <p:nvPr/>
        </p:nvSpPr>
        <p:spPr>
          <a:xfrm>
            <a:off x="1431770" y="1757055"/>
            <a:ext cx="9328460" cy="3970318"/>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Phát hiện các bức tường bên trái và bên phải, cũng như bức tường ở phía trước. </a:t>
            </a:r>
            <a:endParaRPr/>
          </a:p>
          <a:p>
            <a:pPr indent="-279400" lvl="0" marL="457200" marR="0" rtl="0" algn="just">
              <a:spcBef>
                <a:spcPts val="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a:p>
            <a:pPr indent="-457200" lvl="0" marL="457200" marR="0" rtl="0" algn="just">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Thông tin từ các cảm biến này giúp robot xác định vị trí của mình trong mê cung và thực hiện các điều chỉnh cần thiết để giữ robot đi theo đường đi chính xác.</a:t>
            </a:r>
            <a:endParaRPr/>
          </a:p>
          <a:p>
            <a:pPr indent="-279400" lvl="0" marL="457200" marR="0" rtl="0" algn="just">
              <a:spcBef>
                <a:spcPts val="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a:p>
            <a:pPr indent="-457200" lvl="0" marL="457200" marR="0" rtl="0" algn="just">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Giúp xây dựng map để tính toán ra đường đi ngắn nhất và nhanh nhất.</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6" name="Google Shape;146;p16"/>
          <p:cNvSpPr/>
          <p:nvPr/>
        </p:nvSpPr>
        <p:spPr>
          <a:xfrm>
            <a:off x="258043" y="326724"/>
            <a:ext cx="698644" cy="697106"/>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02</a:t>
            </a:r>
            <a:endParaRPr b="1" sz="2400">
              <a:solidFill>
                <a:schemeClr val="lt1"/>
              </a:solidFill>
              <a:latin typeface="Calibri"/>
              <a:ea typeface="Calibri"/>
              <a:cs typeface="Calibri"/>
              <a:sym typeface="Calibri"/>
            </a:endParaRPr>
          </a:p>
        </p:txBody>
      </p:sp>
      <p:sp>
        <p:nvSpPr>
          <p:cNvPr id="147" name="Google Shape;147;p16"/>
          <p:cNvSpPr txBox="1"/>
          <p:nvPr/>
        </p:nvSpPr>
        <p:spPr>
          <a:xfrm>
            <a:off x="1188047" y="443908"/>
            <a:ext cx="4907954" cy="400803"/>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chemeClr val="lt1"/>
              </a:buClr>
              <a:buSzPts val="2800"/>
              <a:buFont typeface="Arial"/>
              <a:buNone/>
            </a:pPr>
            <a:r>
              <a:rPr b="1" lang="en-US" sz="2800">
                <a:solidFill>
                  <a:schemeClr val="lt1"/>
                </a:solidFill>
                <a:latin typeface="Arial"/>
                <a:ea typeface="Arial"/>
                <a:cs typeface="Arial"/>
                <a:sym typeface="Arial"/>
              </a:rPr>
              <a:t>PID dùng cho việc gì?</a:t>
            </a:r>
            <a:endParaRPr b="1" sz="2800">
              <a:solidFill>
                <a:schemeClr val="lt1"/>
              </a:solidFill>
              <a:latin typeface="Arial"/>
              <a:ea typeface="Arial"/>
              <a:cs typeface="Arial"/>
              <a:sym typeface="Arial"/>
            </a:endParaRPr>
          </a:p>
        </p:txBody>
      </p:sp>
      <p:sp>
        <p:nvSpPr>
          <p:cNvPr id="148" name="Google Shape;148;p16"/>
          <p:cNvSpPr txBox="1"/>
          <p:nvPr/>
        </p:nvSpPr>
        <p:spPr>
          <a:xfrm>
            <a:off x="956687" y="1237891"/>
            <a:ext cx="10097729"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PD điều khiển tốc độ động cơ (Speed Control)</a:t>
            </a: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Bộ điều khiển này kiểm soát </a:t>
            </a:r>
            <a:r>
              <a:rPr b="1" lang="en-US" sz="2000">
                <a:solidFill>
                  <a:schemeClr val="dk1"/>
                </a:solidFill>
                <a:latin typeface="Calibri"/>
                <a:ea typeface="Calibri"/>
                <a:cs typeface="Calibri"/>
                <a:sym typeface="Calibri"/>
              </a:rPr>
              <a:t>tốc độ tiến (forward speed)</a:t>
            </a:r>
            <a:r>
              <a:rPr lang="en-US" sz="2000">
                <a:solidFill>
                  <a:schemeClr val="dk1"/>
                </a:solidFill>
                <a:latin typeface="Calibri"/>
                <a:ea typeface="Calibri"/>
                <a:cs typeface="Calibri"/>
                <a:sym typeface="Calibri"/>
              </a:rPr>
              <a:t> của robot, dựa trên sai số giữa vận tốc mong muốn và vận tốc đo được từ bộ mã hóa (encoder).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m_fwd_error: Sai số giữa tốc độ mong muốn và tốc độ đo được.</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FWD_KP: Hệ số khuếch đại của phần tỉ lệ (P).</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FWD_KD: Hệ số khuếch đại của phần đạo hàm (D).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diff: Sai số đạo hàm (sự thay đổi của sai số).</a:t>
            </a:r>
            <a:endParaRPr sz="2000">
              <a:solidFill>
                <a:schemeClr val="dk1"/>
              </a:solidFill>
              <a:latin typeface="Calibri"/>
              <a:ea typeface="Calibri"/>
              <a:cs typeface="Calibri"/>
              <a:sym typeface="Calibri"/>
            </a:endParaRPr>
          </a:p>
        </p:txBody>
      </p:sp>
      <p:sp>
        <p:nvSpPr>
          <p:cNvPr id="149" name="Google Shape;149;p16"/>
          <p:cNvSpPr txBox="1"/>
          <p:nvPr/>
        </p:nvSpPr>
        <p:spPr>
          <a:xfrm>
            <a:off x="4041057" y="3899557"/>
            <a:ext cx="8294889" cy="22159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float increment = m_velocity * LOOP_INTERVAL;</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m_fwd_error += increment - encoders.robot_fwd_change();</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float diff = m_fwd_error - m_previous_fwd_error;</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m_previous_fwd_error = m_fwd_error;</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float output = FWD_KP * m_fwd_error + FWD_KD * diff;</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16"/>
          <p:cNvSpPr/>
          <p:nvPr/>
        </p:nvSpPr>
        <p:spPr>
          <a:xfrm>
            <a:off x="4041057" y="3899557"/>
            <a:ext cx="7492182" cy="2019462"/>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6"/>
          <p:cNvSpPr/>
          <p:nvPr/>
        </p:nvSpPr>
        <p:spPr>
          <a:xfrm>
            <a:off x="3854245" y="3899557"/>
            <a:ext cx="8023123" cy="2019462"/>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17"/>
          <p:cNvSpPr/>
          <p:nvPr/>
        </p:nvSpPr>
        <p:spPr>
          <a:xfrm>
            <a:off x="258043" y="326724"/>
            <a:ext cx="698644" cy="697106"/>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02</a:t>
            </a:r>
            <a:endParaRPr b="1" sz="2400">
              <a:solidFill>
                <a:schemeClr val="lt1"/>
              </a:solidFill>
              <a:latin typeface="Calibri"/>
              <a:ea typeface="Calibri"/>
              <a:cs typeface="Calibri"/>
              <a:sym typeface="Calibri"/>
            </a:endParaRPr>
          </a:p>
        </p:txBody>
      </p:sp>
      <p:sp>
        <p:nvSpPr>
          <p:cNvPr id="158" name="Google Shape;158;p17"/>
          <p:cNvSpPr txBox="1"/>
          <p:nvPr/>
        </p:nvSpPr>
        <p:spPr>
          <a:xfrm>
            <a:off x="1188047" y="443908"/>
            <a:ext cx="4907954" cy="400803"/>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chemeClr val="lt1"/>
              </a:buClr>
              <a:buSzPts val="2800"/>
              <a:buFont typeface="Arial"/>
              <a:buNone/>
            </a:pPr>
            <a:r>
              <a:rPr b="1" lang="en-US" sz="2800">
                <a:solidFill>
                  <a:schemeClr val="lt1"/>
                </a:solidFill>
                <a:latin typeface="Arial"/>
                <a:ea typeface="Arial"/>
                <a:cs typeface="Arial"/>
                <a:sym typeface="Arial"/>
              </a:rPr>
              <a:t>PID dùng cho việc gì?</a:t>
            </a:r>
            <a:endParaRPr b="1" sz="2800">
              <a:solidFill>
                <a:schemeClr val="lt1"/>
              </a:solidFill>
              <a:latin typeface="Arial"/>
              <a:ea typeface="Arial"/>
              <a:cs typeface="Arial"/>
              <a:sym typeface="Arial"/>
            </a:endParaRPr>
          </a:p>
        </p:txBody>
      </p:sp>
      <p:sp>
        <p:nvSpPr>
          <p:cNvPr id="159" name="Google Shape;159;p17"/>
          <p:cNvSpPr txBox="1"/>
          <p:nvPr/>
        </p:nvSpPr>
        <p:spPr>
          <a:xfrm>
            <a:off x="956687" y="1237891"/>
            <a:ext cx="10097729"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 Bộ điều khiển góc quay (Angle Controller)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Bộ điều khiển này kiểm soát </a:t>
            </a:r>
            <a:r>
              <a:rPr b="1" lang="en-US" sz="2000">
                <a:solidFill>
                  <a:schemeClr val="dk1"/>
                </a:solidFill>
                <a:latin typeface="Calibri"/>
                <a:ea typeface="Calibri"/>
                <a:cs typeface="Calibri"/>
                <a:sym typeface="Calibri"/>
              </a:rPr>
              <a:t>tốc độ quay (rotational speed)</a:t>
            </a:r>
            <a:r>
              <a:rPr lang="en-US" sz="2000">
                <a:solidFill>
                  <a:schemeClr val="dk1"/>
                </a:solidFill>
                <a:latin typeface="Calibri"/>
                <a:ea typeface="Calibri"/>
                <a:cs typeface="Calibri"/>
                <a:sym typeface="Calibri"/>
              </a:rPr>
              <a:t> của robot, bao gồm cả điều chỉnh khi có sai lệch từ việc theo dõi tường hoặc đường (steering adjustment).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m_rot_error: Sai số giữa góc quay mong muốn và góc quay đo được.</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ROT_KP: Hệ số khuếch đại của phần tỉ lệ (P).</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ROT_KD: Hệ số khuếch đại của phần đạo hàm (D).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steering_adjustment: Sai số điều chỉnh quay (nếu robot cần điều chỉnh do lệch khỏi đường hoặc tường).</a:t>
            </a:r>
            <a:endParaRPr/>
          </a:p>
        </p:txBody>
      </p:sp>
      <p:sp>
        <p:nvSpPr>
          <p:cNvPr id="160" name="Google Shape;160;p17"/>
          <p:cNvSpPr txBox="1"/>
          <p:nvPr/>
        </p:nvSpPr>
        <p:spPr>
          <a:xfrm>
            <a:off x="4041057" y="3899557"/>
            <a:ext cx="8294889"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float increment = m_omega * LOOP_INTERVAL;</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m_rot_error += increment - encoders.robot_rot_change();</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m_rot_error += steering_adjustment;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float diff = m_rot_error - m_previous_rot_error;</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m_previous_rot_error = m_rot_error;</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float output = ROT_KP * m_rot_error + ROT_KD * diff;</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17"/>
          <p:cNvSpPr/>
          <p:nvPr/>
        </p:nvSpPr>
        <p:spPr>
          <a:xfrm>
            <a:off x="4041057" y="3899557"/>
            <a:ext cx="7492182" cy="2019462"/>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7"/>
          <p:cNvSpPr/>
          <p:nvPr/>
        </p:nvSpPr>
        <p:spPr>
          <a:xfrm>
            <a:off x="3854245" y="3899556"/>
            <a:ext cx="8023123" cy="233409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8" name="Google Shape;168;p18"/>
          <p:cNvSpPr/>
          <p:nvPr/>
        </p:nvSpPr>
        <p:spPr>
          <a:xfrm>
            <a:off x="258043" y="326724"/>
            <a:ext cx="698644" cy="697106"/>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02</a:t>
            </a:r>
            <a:endParaRPr b="1" sz="2400">
              <a:solidFill>
                <a:schemeClr val="lt1"/>
              </a:solidFill>
              <a:latin typeface="Calibri"/>
              <a:ea typeface="Calibri"/>
              <a:cs typeface="Calibri"/>
              <a:sym typeface="Calibri"/>
            </a:endParaRPr>
          </a:p>
        </p:txBody>
      </p:sp>
      <p:sp>
        <p:nvSpPr>
          <p:cNvPr id="169" name="Google Shape;169;p18"/>
          <p:cNvSpPr txBox="1"/>
          <p:nvPr/>
        </p:nvSpPr>
        <p:spPr>
          <a:xfrm>
            <a:off x="1188047" y="443908"/>
            <a:ext cx="4907954" cy="400803"/>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chemeClr val="lt1"/>
              </a:buClr>
              <a:buSzPts val="2800"/>
              <a:buFont typeface="Arial"/>
              <a:buNone/>
            </a:pPr>
            <a:r>
              <a:rPr b="1" lang="en-US" sz="2800">
                <a:solidFill>
                  <a:schemeClr val="lt1"/>
                </a:solidFill>
                <a:latin typeface="Arial"/>
                <a:ea typeface="Arial"/>
                <a:cs typeface="Arial"/>
                <a:sym typeface="Arial"/>
              </a:rPr>
              <a:t>PID dùng cho việc gì?</a:t>
            </a:r>
            <a:endParaRPr b="1" sz="2800">
              <a:solidFill>
                <a:schemeClr val="lt1"/>
              </a:solidFill>
              <a:latin typeface="Arial"/>
              <a:ea typeface="Arial"/>
              <a:cs typeface="Arial"/>
              <a:sym typeface="Arial"/>
            </a:endParaRPr>
          </a:p>
        </p:txBody>
      </p:sp>
      <p:sp>
        <p:nvSpPr>
          <p:cNvPr id="170" name="Google Shape;170;p18"/>
          <p:cNvSpPr txBox="1"/>
          <p:nvPr/>
        </p:nvSpPr>
        <p:spPr>
          <a:xfrm>
            <a:off x="956687" y="1237891"/>
            <a:ext cx="10097729" cy="255454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alibri"/>
              <a:buChar char="-"/>
            </a:pPr>
            <a:r>
              <a:rPr b="1" lang="en-US" sz="2000">
                <a:solidFill>
                  <a:schemeClr val="dk1"/>
                </a:solidFill>
                <a:latin typeface="Calibri"/>
                <a:ea typeface="Calibri"/>
                <a:cs typeface="Calibri"/>
                <a:sym typeface="Calibri"/>
              </a:rPr>
              <a:t>Tính toán điều chỉnh góc lái (calculate  steering adjustment)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Bộ điều khiển PD này được sử dụng để điều chỉnh hướng lái của micromouse nhằm duy trì khoảng cách phù hợp với tường. Cụ thể, nó giúp xe điều chỉnh hướng dựa trên sai lệch giữa vị trí thực tế và vị trí mong muốn (được gọi là lỗi hướng đi hay "cross-track error").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m_cross_track_error</a:t>
            </a:r>
            <a:r>
              <a:rPr lang="en-US" sz="2000">
                <a:solidFill>
                  <a:schemeClr val="dk1"/>
                </a:solidFill>
                <a:latin typeface="Calibri"/>
                <a:ea typeface="Calibri"/>
                <a:cs typeface="Calibri"/>
                <a:sym typeface="Calibri"/>
              </a:rPr>
              <a:t> là lỗi giữa vị trí của robot và vị trí lý tưởng (giữa tường).</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m_last_steering_error</a:t>
            </a:r>
            <a:r>
              <a:rPr lang="en-US" sz="2000">
                <a:solidFill>
                  <a:schemeClr val="dk1"/>
                </a:solidFill>
                <a:latin typeface="Calibri"/>
                <a:ea typeface="Calibri"/>
                <a:cs typeface="Calibri"/>
                <a:sym typeface="Calibri"/>
              </a:rPr>
              <a:t> lưu trữ lỗi trước đó</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71" name="Google Shape;171;p18"/>
          <p:cNvSpPr txBox="1"/>
          <p:nvPr/>
        </p:nvSpPr>
        <p:spPr>
          <a:xfrm>
            <a:off x="796413" y="3584925"/>
            <a:ext cx="11539533"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float calculate_steering_adjustment()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float pTerm = STEERING_KP * m_cross_track_error;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float dTerm = STEERING_KD * (m_cross_track_error - m_last_steering_error);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float adjustment = pTerm + dTerm * LOOP_FREQUENCY;</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adjustment = constrain(adjustment, -STEERING_ADJUST_LIMIT, STEERING_ADJUST_LIMIT);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m_last_steering_error = m_cross_track_error;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m_steering_adjustment = adjustment;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return adjustment;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18"/>
          <p:cNvSpPr/>
          <p:nvPr/>
        </p:nvSpPr>
        <p:spPr>
          <a:xfrm>
            <a:off x="4041057" y="3899557"/>
            <a:ext cx="7492182" cy="2019462"/>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18"/>
          <p:cNvSpPr/>
          <p:nvPr/>
        </p:nvSpPr>
        <p:spPr>
          <a:xfrm>
            <a:off x="607365" y="3571242"/>
            <a:ext cx="9863990" cy="2782289"/>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9" name="Google Shape;179;p19"/>
          <p:cNvSpPr/>
          <p:nvPr/>
        </p:nvSpPr>
        <p:spPr>
          <a:xfrm>
            <a:off x="258043" y="326724"/>
            <a:ext cx="698644" cy="697106"/>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02</a:t>
            </a:r>
            <a:endParaRPr b="1" sz="2400">
              <a:solidFill>
                <a:schemeClr val="lt1"/>
              </a:solidFill>
              <a:latin typeface="Calibri"/>
              <a:ea typeface="Calibri"/>
              <a:cs typeface="Calibri"/>
              <a:sym typeface="Calibri"/>
            </a:endParaRPr>
          </a:p>
        </p:txBody>
      </p:sp>
      <p:sp>
        <p:nvSpPr>
          <p:cNvPr id="180" name="Google Shape;180;p19"/>
          <p:cNvSpPr txBox="1"/>
          <p:nvPr/>
        </p:nvSpPr>
        <p:spPr>
          <a:xfrm>
            <a:off x="1188047" y="443908"/>
            <a:ext cx="4907954" cy="400803"/>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chemeClr val="lt1"/>
              </a:buClr>
              <a:buSzPts val="2800"/>
              <a:buFont typeface="Arial"/>
              <a:buNone/>
            </a:pPr>
            <a:r>
              <a:rPr b="1" lang="en-US" sz="2800">
                <a:solidFill>
                  <a:schemeClr val="lt1"/>
                </a:solidFill>
                <a:latin typeface="Arial"/>
                <a:ea typeface="Arial"/>
                <a:cs typeface="Arial"/>
                <a:sym typeface="Arial"/>
              </a:rPr>
              <a:t>PID dùng cho việc gì?</a:t>
            </a:r>
            <a:endParaRPr b="1" sz="2800">
              <a:solidFill>
                <a:schemeClr val="lt1"/>
              </a:solidFill>
              <a:latin typeface="Arial"/>
              <a:ea typeface="Arial"/>
              <a:cs typeface="Arial"/>
              <a:sym typeface="Arial"/>
            </a:endParaRPr>
          </a:p>
        </p:txBody>
      </p:sp>
      <p:sp>
        <p:nvSpPr>
          <p:cNvPr id="181" name="Google Shape;181;p19"/>
          <p:cNvSpPr/>
          <p:nvPr/>
        </p:nvSpPr>
        <p:spPr>
          <a:xfrm>
            <a:off x="4041057" y="3899557"/>
            <a:ext cx="7492182" cy="2019462"/>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82" name="Google Shape;182;p19"/>
          <p:cNvPicPr preferRelativeResize="0"/>
          <p:nvPr/>
        </p:nvPicPr>
        <p:blipFill rotWithShape="1">
          <a:blip r:embed="rId3">
            <a:alphaModFix/>
          </a:blip>
          <a:srcRect b="0" l="0" r="0" t="0"/>
          <a:stretch/>
        </p:blipFill>
        <p:spPr>
          <a:xfrm>
            <a:off x="68826" y="1691080"/>
            <a:ext cx="12192000" cy="44169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idx="12" type="sldNum"/>
          </p:nvPr>
        </p:nvSpPr>
        <p:spPr>
          <a:xfrm>
            <a:off x="9253536" y="653044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8" name="Google Shape;188;p20"/>
          <p:cNvSpPr/>
          <p:nvPr/>
        </p:nvSpPr>
        <p:spPr>
          <a:xfrm>
            <a:off x="408872" y="330783"/>
            <a:ext cx="683058" cy="681554"/>
          </a:xfrm>
          <a:custGeom>
            <a:rect b="b" l="l" r="r" t="t"/>
            <a:pathLst>
              <a:path extrusionOk="0" h="11337" w="11362">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rgbClr val="3379A7"/>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400"/>
              <a:buFont typeface="Calibri"/>
              <a:buNone/>
            </a:pPr>
            <a:r>
              <a:rPr b="1" lang="en-US" sz="2400">
                <a:solidFill>
                  <a:schemeClr val="lt1"/>
                </a:solidFill>
                <a:latin typeface="Calibri"/>
                <a:ea typeface="Calibri"/>
                <a:cs typeface="Calibri"/>
                <a:sym typeface="Calibri"/>
              </a:rPr>
              <a:t>03</a:t>
            </a:r>
            <a:endParaRPr b="1" sz="2400">
              <a:solidFill>
                <a:schemeClr val="lt1"/>
              </a:solidFill>
              <a:latin typeface="Calibri"/>
              <a:ea typeface="Calibri"/>
              <a:cs typeface="Calibri"/>
              <a:sym typeface="Calibri"/>
            </a:endParaRPr>
          </a:p>
        </p:txBody>
      </p:sp>
      <p:sp>
        <p:nvSpPr>
          <p:cNvPr id="189" name="Google Shape;189;p20"/>
          <p:cNvSpPr txBox="1"/>
          <p:nvPr/>
        </p:nvSpPr>
        <p:spPr>
          <a:xfrm>
            <a:off x="1348301" y="438119"/>
            <a:ext cx="3798733" cy="391861"/>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1200"/>
              </a:spcAft>
              <a:buClr>
                <a:schemeClr val="lt1"/>
              </a:buClr>
              <a:buSzPts val="2800"/>
              <a:buFont typeface="Arial"/>
              <a:buNone/>
            </a:pPr>
            <a:r>
              <a:rPr b="1" lang="en-US" sz="2800">
                <a:solidFill>
                  <a:schemeClr val="lt1"/>
                </a:solidFill>
                <a:latin typeface="Arial"/>
                <a:ea typeface="Arial"/>
                <a:cs typeface="Arial"/>
                <a:sym typeface="Arial"/>
              </a:rPr>
              <a:t>Báo cáo tiến độ</a:t>
            </a:r>
            <a:endParaRPr b="1" sz="2800">
              <a:solidFill>
                <a:schemeClr val="lt1"/>
              </a:solidFill>
              <a:latin typeface="Arial"/>
              <a:ea typeface="Arial"/>
              <a:cs typeface="Arial"/>
              <a:sym typeface="Arial"/>
            </a:endParaRPr>
          </a:p>
        </p:txBody>
      </p:sp>
      <p:sp>
        <p:nvSpPr>
          <p:cNvPr id="190" name="Google Shape;190;p20"/>
          <p:cNvSpPr txBox="1"/>
          <p:nvPr/>
        </p:nvSpPr>
        <p:spPr>
          <a:xfrm>
            <a:off x="1960845" y="1762712"/>
            <a:ext cx="8270310"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Đã thử nghiệm điều khiển PID cho động cơ với phản hồi chính từ IR Sensor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Đã đạt: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 Xe đã chạy theo tường với khoảng cách cho trước</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 Chạy với phản hồi chính từ cảm biến IR trái</a:t>
            </a:r>
            <a:endParaRPr/>
          </a:p>
          <a:p>
            <a:pPr indent="0" lvl="0" marL="0" marR="0" rtl="0" algn="l">
              <a:spcBef>
                <a:spcPts val="0"/>
              </a:spcBef>
              <a:spcAft>
                <a:spcPts val="0"/>
              </a:spcAft>
              <a:buNone/>
            </a:pP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Chưa đạt: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 Còn vấn đề khi rẽ trái , xe không thể rẽ mượt mà khi vào góc trái.</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 Chưa áp dụng chạy với phản hồi từ hai cảm biến</a:t>
            </a:r>
            <a:endParaRPr sz="2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